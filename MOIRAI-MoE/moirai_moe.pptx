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lay" panose="020B0600000101010101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0vW8jTckOBlZrbr268ORpWcyT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시계열 예측 -&gt; 시계열데이터의 heterogeneity -&gt; 시계열 예측 Foundation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연구:</a:t>
            </a:r>
            <a:br>
              <a:rPr lang="en-US"/>
            </a:br>
            <a:r>
              <a:rPr lang="en-US"/>
              <a:t>language prompt 를 사용</a:t>
            </a:r>
            <a:br>
              <a:rPr lang="en-US"/>
            </a:br>
            <a:r>
              <a:rPr lang="en-US"/>
              <a:t>frequency 를 기반하여 데이터를 나누는 </a:t>
            </a:r>
            <a:br>
              <a:rPr lang="en-US"/>
            </a:br>
            <a:r>
              <a:rPr lang="en-US"/>
              <a:t>따로 specialization 이 없는</a:t>
            </a:r>
            <a:br>
              <a:rPr lang="en-US"/>
            </a:br>
            <a:br>
              <a:rPr lang="en-US"/>
            </a:br>
            <a:r>
              <a:rPr lang="en-US"/>
              <a:t>논문에서는 moirai 와 비교 </a:t>
            </a:r>
            <a:br>
              <a:rPr lang="en-US"/>
            </a:br>
            <a:r>
              <a:rPr lang="en-US"/>
              <a:t>frequency 기반 패치 길이를 다르게 하여 같은 frequency 데이터의 표현을 학습하는 경향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Frequency 를 임의적으로 나누는 방식은 </a:t>
            </a:r>
            <a:br>
              <a:rPr lang="en-US"/>
            </a:br>
            <a:r>
              <a:rPr lang="en-US"/>
              <a:t>그림은 같은 frequency ~~~</a:t>
            </a: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-&gt; 기존 frequency 를 통해 diverse 한 time series data 를 나눈걸 experts 가 transformer 내부에서 학습할 수 있도록 한다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같은 구조를 gating function 하고 mixture of experts 가 어떻게 작동하는지</a:t>
            </a:r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Gating function 은 각각의 패치 임베딩이 어느 expert 를 고를지 정해준다</a:t>
            </a:r>
            <a:br>
              <a:rPr lang="en-US"/>
            </a:br>
            <a:r>
              <a:rPr lang="en-US"/>
              <a:t>여기서 gating function 은 k mean cluster 인데 기존 moirai 모델을 사용하여 얻은 임베딩으로 32 개의 cluster 를 생성</a:t>
            </a:r>
            <a:br>
              <a:rPr lang="en-US"/>
            </a:br>
            <a:r>
              <a:rPr lang="en-US"/>
              <a:t>각 패치 임베딩에서 제일 가까운 두개의 클러스터가 사용될 2개의 expert 가 된다</a:t>
            </a:r>
            <a:endParaRPr/>
          </a:p>
        </p:txBody>
      </p:sp>
      <p:sp>
        <p:nvSpPr>
          <p:cNvPr id="167" name="Google Shape;16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각각의 클러스터에 대한 가중치와 </a:t>
            </a:r>
            <a:br>
              <a:rPr lang="en-US"/>
            </a:br>
            <a:r>
              <a:rPr lang="en-US"/>
              <a:t>클러스터에서 ffn 레이어를 거친 임베딩을 곱한후 더해준다</a:t>
            </a:r>
            <a:endParaRPr/>
          </a:p>
        </p:txBody>
      </p:sp>
      <p:sp>
        <p:nvSpPr>
          <p:cNvPr id="181" name="Google Shape;1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개 분포 확인</a:t>
            </a:r>
            <a:endParaRPr/>
          </a:p>
        </p:txBody>
      </p:sp>
      <p:sp>
        <p:nvSpPr>
          <p:cNvPr id="194" name="Google Shape;19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amu.wiki/w/%CE%A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201847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Moirai-MoE</a:t>
            </a:r>
            <a:br>
              <a:rPr lang="en-US" sz="2800" b="1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Empowering Time Series Foundation Models with Sparse Mixture of Experts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716530" y="5890641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DongJae Seo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Introduction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001512" y="1651889"/>
            <a:ext cx="6077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Time Series Forecasting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0" lvl="0" indent="0">
              <a:buSzPts val="1600"/>
              <a:buNone/>
            </a:pPr>
            <a:r>
              <a:rPr lang="en-US" sz="1600" dirty="0"/>
              <a:t>A task that predicts future values based on past time-series data</a:t>
            </a:r>
          </a:p>
          <a:p>
            <a:pPr marL="0" lvl="0" indent="0">
              <a:buSzPts val="1600"/>
              <a:buNone/>
            </a:pPr>
            <a:endParaRPr lang="en-US" sz="16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Time Series Data Heterogeneity in forecasting: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Frequency (ex: 15min, 1hr, daily)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Domain (Energy, Electricity)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Context/Prediction length</a:t>
            </a:r>
            <a:endParaRPr dirty="0"/>
          </a:p>
          <a:p>
            <a:pPr marL="0" lvl="0" indent="0"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Dimensionality (</a:t>
            </a:r>
            <a:r>
              <a:rPr lang="en-US" sz="1600" dirty="0"/>
              <a:t>Number of forecasting variables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Time Series Forecasting Foundation Model</a:t>
            </a:r>
            <a:endParaRPr dirty="0"/>
          </a:p>
          <a:p>
            <a:pPr marL="0" lvl="0" indent="0"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-&gt; </a:t>
            </a:r>
            <a:r>
              <a:rPr lang="en-US" sz="1600" dirty="0"/>
              <a:t>A pretrained model that can forecast diverse time-series  </a:t>
            </a:r>
          </a:p>
          <a:p>
            <a:pPr marL="0" lvl="0" indent="0">
              <a:buSzPts val="1600"/>
              <a:buNone/>
            </a:pPr>
            <a:r>
              <a:rPr lang="en-US" sz="1600" dirty="0"/>
              <a:t>  regardless of frequency, domain, or dimensionality</a:t>
            </a:r>
            <a:endParaRPr dirty="0"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459" y="1953641"/>
            <a:ext cx="4944165" cy="345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665988" y="2551415"/>
            <a:ext cx="5598192" cy="2913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Time Series Forecasting Foundation Model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Language prompts – TEMPO,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UniTime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Frequency specialized models 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Moirai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TimesFM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No specialization – Chronos, Lag-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LLaMA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, Moment, Timer</a:t>
            </a:r>
            <a:endParaRPr dirty="0"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Related Work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r="61406" b="17858"/>
          <a:stretch/>
        </p:blipFill>
        <p:spPr>
          <a:xfrm>
            <a:off x="6809232" y="1156286"/>
            <a:ext cx="4223004" cy="40071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6726936" y="5464986"/>
            <a:ext cx="479907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Moirai: Frequency based data grouping, embedding done in each frequency band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212909" y="1640348"/>
            <a:ext cx="5598192" cy="484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Frequency cannot be used as a reliable indicator since it does not always carry meaningful information about time series patterns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Related Work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4"/>
          <p:cNvGrpSpPr/>
          <p:nvPr/>
        </p:nvGrpSpPr>
        <p:grpSpPr>
          <a:xfrm>
            <a:off x="5811101" y="374904"/>
            <a:ext cx="5682314" cy="2331688"/>
            <a:chOff x="568949" y="2285005"/>
            <a:chExt cx="5972160" cy="2438526"/>
          </a:xfrm>
        </p:grpSpPr>
        <p:grpSp>
          <p:nvGrpSpPr>
            <p:cNvPr id="115" name="Google Shape;115;p4"/>
            <p:cNvGrpSpPr/>
            <p:nvPr/>
          </p:nvGrpSpPr>
          <p:grpSpPr>
            <a:xfrm>
              <a:off x="568949" y="2285005"/>
              <a:ext cx="5972160" cy="2438526"/>
              <a:chOff x="4793477" y="3208549"/>
              <a:chExt cx="5972160" cy="2438526"/>
            </a:xfrm>
          </p:grpSpPr>
          <p:pic>
            <p:nvPicPr>
              <p:cNvPr id="116" name="Google Shape;116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793477" y="3208549"/>
                <a:ext cx="5972160" cy="24385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4"/>
              <p:cNvSpPr/>
              <p:nvPr/>
            </p:nvSpPr>
            <p:spPr>
              <a:xfrm>
                <a:off x="5777103" y="4117549"/>
                <a:ext cx="2324481" cy="742950"/>
              </a:xfrm>
              <a:prstGeom prst="rect">
                <a:avLst/>
              </a:prstGeom>
              <a:noFill/>
              <a:ln w="190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8525386" y="4068083"/>
                <a:ext cx="871539" cy="1524127"/>
              </a:xfrm>
              <a:prstGeom prst="rect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7120316" y="4919745"/>
                <a:ext cx="981268" cy="672466"/>
              </a:xfrm>
              <a:prstGeom prst="rect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p4"/>
            <p:cNvSpPr/>
            <p:nvPr/>
          </p:nvSpPr>
          <p:spPr>
            <a:xfrm>
              <a:off x="1552575" y="2368030"/>
              <a:ext cx="2324481" cy="74295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 txBox="1"/>
          <p:nvPr/>
        </p:nvSpPr>
        <p:spPr>
          <a:xfrm>
            <a:off x="6991612" y="2894108"/>
            <a:ext cx="418235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frequency -&gt;  varying pattern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frequency -&gt; similar pattern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distribution within single time series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212909" y="1640348"/>
            <a:ext cx="5598192" cy="484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lvl="0" indent="0">
              <a:buSzPts val="1600"/>
              <a:buNone/>
            </a:pPr>
            <a:r>
              <a:rPr lang="en-US" sz="1600" dirty="0"/>
              <a:t>Frequency cannot be used as a reliable indicator since it does not always carry meaningful information about time series patterns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buSzPts val="1600"/>
              <a:buNone/>
            </a:pPr>
            <a:r>
              <a:rPr lang="en-US" sz="1600" dirty="0"/>
              <a:t>Moirai-</a:t>
            </a:r>
            <a:r>
              <a:rPr lang="en-US" sz="1600" dirty="0" err="1"/>
              <a:t>MoE</a:t>
            </a:r>
            <a:r>
              <a:rPr lang="en-US" sz="1600" dirty="0"/>
              <a:t> splits time series into token units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lvl="0" indent="0">
              <a:buSzPts val="1600"/>
              <a:buNone/>
            </a:pPr>
            <a:r>
              <a:rPr lang="en-US" sz="1600" dirty="0"/>
              <a:t>Mixture of Experts learns token-level representations instead of frequency-based features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Related Work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5"/>
          <p:cNvGrpSpPr/>
          <p:nvPr/>
        </p:nvGrpSpPr>
        <p:grpSpPr>
          <a:xfrm>
            <a:off x="5811101" y="374904"/>
            <a:ext cx="5682314" cy="2331688"/>
            <a:chOff x="568949" y="2285005"/>
            <a:chExt cx="5972160" cy="2438526"/>
          </a:xfrm>
        </p:grpSpPr>
        <p:grpSp>
          <p:nvGrpSpPr>
            <p:cNvPr id="130" name="Google Shape;130;p5"/>
            <p:cNvGrpSpPr/>
            <p:nvPr/>
          </p:nvGrpSpPr>
          <p:grpSpPr>
            <a:xfrm>
              <a:off x="568949" y="2285005"/>
              <a:ext cx="5972160" cy="2438526"/>
              <a:chOff x="4793477" y="3208549"/>
              <a:chExt cx="5972160" cy="2438526"/>
            </a:xfrm>
          </p:grpSpPr>
          <p:pic>
            <p:nvPicPr>
              <p:cNvPr id="131" name="Google Shape;131;p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793477" y="3208549"/>
                <a:ext cx="5972160" cy="24385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" name="Google Shape;132;p5"/>
              <p:cNvSpPr/>
              <p:nvPr/>
            </p:nvSpPr>
            <p:spPr>
              <a:xfrm>
                <a:off x="5777103" y="4117549"/>
                <a:ext cx="2324481" cy="742950"/>
              </a:xfrm>
              <a:prstGeom prst="rect">
                <a:avLst/>
              </a:prstGeom>
              <a:noFill/>
              <a:ln w="190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8525386" y="4068083"/>
                <a:ext cx="871539" cy="1524127"/>
              </a:xfrm>
              <a:prstGeom prst="rect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7120316" y="4919745"/>
                <a:ext cx="981268" cy="672466"/>
              </a:xfrm>
              <a:prstGeom prst="rect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5"/>
            <p:cNvSpPr/>
            <p:nvPr/>
          </p:nvSpPr>
          <p:spPr>
            <a:xfrm>
              <a:off x="1552575" y="2368030"/>
              <a:ext cx="2324481" cy="742950"/>
            </a:xfrm>
            <a:prstGeom prst="rect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5"/>
          <p:cNvSpPr txBox="1"/>
          <p:nvPr/>
        </p:nvSpPr>
        <p:spPr>
          <a:xfrm>
            <a:off x="6991612" y="2894108"/>
            <a:ext cx="33212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frequency -&gt;  varying pattern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frequency -&gt; similar pattern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distribution within single time series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3040" y="2894108"/>
            <a:ext cx="5277587" cy="3419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l="-3482" b="-4943"/>
          <a:stretch/>
        </p:blipFill>
        <p:spPr>
          <a:xfrm>
            <a:off x="228600" y="2052860"/>
            <a:ext cx="5461347" cy="358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l="17966" t="16673" r="4597" b="6919"/>
          <a:stretch/>
        </p:blipFill>
        <p:spPr>
          <a:xfrm rot="-5400000">
            <a:off x="6838834" y="594491"/>
            <a:ext cx="4295777" cy="609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l="17966" t="16673" r="4597" b="6919"/>
          <a:stretch/>
        </p:blipFill>
        <p:spPr>
          <a:xfrm rot="-5400000">
            <a:off x="5054045" y="-247961"/>
            <a:ext cx="5659288" cy="80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>
            <a:spLocks noGrp="1"/>
          </p:cNvSpPr>
          <p:nvPr>
            <p:ph type="body" idx="1"/>
          </p:nvPr>
        </p:nvSpPr>
        <p:spPr>
          <a:xfrm>
            <a:off x="128016" y="1253331"/>
            <a:ext cx="3657600" cy="517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Time Series Tokenizing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342900" lvl="0">
              <a:buAutoNum type="arabicPeriod"/>
            </a:pPr>
            <a:r>
              <a:rPr lang="en-US" sz="1800" dirty="0"/>
              <a:t>Splits the time series into patches and embeds them</a:t>
            </a:r>
          </a:p>
          <a:p>
            <a:pPr marL="342900" lvl="0">
              <a:buAutoNum type="arabicPeriod"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(batch, N, embedding)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N = Series Length / </a:t>
            </a:r>
            <a:r>
              <a:rPr lang="en-US" sz="1800" dirty="0" err="1"/>
              <a:t>patch_length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2. Token-wise normalization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(distribution property)</a:t>
            </a:r>
            <a:endParaRPr sz="1800" dirty="0"/>
          </a:p>
        </p:txBody>
      </p:sp>
      <p:sp>
        <p:nvSpPr>
          <p:cNvPr id="153" name="Google Shape;153;p7"/>
          <p:cNvSpPr/>
          <p:nvPr/>
        </p:nvSpPr>
        <p:spPr>
          <a:xfrm>
            <a:off x="3867150" y="1790700"/>
            <a:ext cx="2924175" cy="40100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1883664" y="2496312"/>
            <a:ext cx="2340864" cy="146304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5" name="Google Shape;155;p7"/>
          <p:cNvCxnSpPr/>
          <p:nvPr/>
        </p:nvCxnSpPr>
        <p:spPr>
          <a:xfrm>
            <a:off x="1764792" y="5600891"/>
            <a:ext cx="2907792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l="17966" t="16673" r="4597" b="6919"/>
          <a:stretch/>
        </p:blipFill>
        <p:spPr>
          <a:xfrm rot="-5400000">
            <a:off x="5054045" y="-247961"/>
            <a:ext cx="5659288" cy="80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>
            <a:spLocks noGrp="1"/>
          </p:cNvSpPr>
          <p:nvPr>
            <p:ph type="body" idx="1"/>
          </p:nvPr>
        </p:nvSpPr>
        <p:spPr>
          <a:xfrm>
            <a:off x="128016" y="1253331"/>
            <a:ext cx="3657600" cy="517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Transformer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Causal Self Attention</a:t>
            </a:r>
            <a:endParaRPr dirty="0"/>
          </a:p>
          <a:p>
            <a:pPr marL="228600" lvl="0" indent="-228600">
              <a:buFont typeface="Arial"/>
              <a:buChar char="-"/>
            </a:pPr>
            <a:r>
              <a:rPr lang="en-US" sz="1800" dirty="0"/>
              <a:t>Output tokens only attend to past or same-timestamp input tokens</a:t>
            </a:r>
            <a:endParaRPr sz="1800" dirty="0"/>
          </a:p>
        </p:txBody>
      </p:sp>
      <p:sp>
        <p:nvSpPr>
          <p:cNvPr id="163" name="Google Shape;163;p8"/>
          <p:cNvSpPr/>
          <p:nvPr/>
        </p:nvSpPr>
        <p:spPr>
          <a:xfrm>
            <a:off x="6793992" y="4142233"/>
            <a:ext cx="3337560" cy="19202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l="17966" t="16673" r="4597" b="6919"/>
          <a:stretch/>
        </p:blipFill>
        <p:spPr>
          <a:xfrm rot="-5400000">
            <a:off x="5054045" y="-247961"/>
            <a:ext cx="5659288" cy="80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>
            <a:spLocks noGrp="1"/>
          </p:cNvSpPr>
          <p:nvPr>
            <p:ph type="body" idx="1"/>
          </p:nvPr>
        </p:nvSpPr>
        <p:spPr>
          <a:xfrm>
            <a:off x="128016" y="854773"/>
            <a:ext cx="3657600" cy="517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Transformer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K = 32 (experts)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Gating Function </a:t>
            </a:r>
            <a:r>
              <a:rPr lang="en-US" sz="1800" dirty="0"/>
              <a:t>(K mean cluster)</a:t>
            </a:r>
            <a:endParaRPr dirty="0"/>
          </a:p>
          <a:p>
            <a:pPr marL="0" lvl="0" indent="0">
              <a:buNone/>
            </a:pPr>
            <a:r>
              <a:rPr lang="en-US" sz="1800" dirty="0"/>
              <a:t>Uses representations obtained from the original Moirai FM during pretraining</a:t>
            </a:r>
          </a:p>
          <a:p>
            <a:pPr marL="0" lvl="0" indent="0">
              <a:buNone/>
            </a:pPr>
            <a:r>
              <a:rPr lang="en-US" sz="1800" b="1" dirty="0"/>
              <a:t>Each patch embedding is assigned to k experts</a:t>
            </a:r>
            <a:endParaRPr sz="1800" b="1" dirty="0"/>
          </a:p>
        </p:txBody>
      </p:sp>
      <p:sp>
        <p:nvSpPr>
          <p:cNvPr id="172" name="Google Shape;172;p9"/>
          <p:cNvSpPr/>
          <p:nvPr/>
        </p:nvSpPr>
        <p:spPr>
          <a:xfrm>
            <a:off x="6821424" y="3118104"/>
            <a:ext cx="3337560" cy="8412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857" y="3627600"/>
            <a:ext cx="3215918" cy="25645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9"/>
          <p:cNvCxnSpPr>
            <a:cxnSpLocks/>
            <a:stCxn id="177" idx="2"/>
          </p:cNvCxnSpPr>
          <p:nvPr/>
        </p:nvCxnSpPr>
        <p:spPr>
          <a:xfrm>
            <a:off x="2016252" y="2753518"/>
            <a:ext cx="5289804" cy="1754474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5" name="Google Shape;175;p9"/>
          <p:cNvSpPr/>
          <p:nvPr/>
        </p:nvSpPr>
        <p:spPr>
          <a:xfrm>
            <a:off x="7333488" y="4352544"/>
            <a:ext cx="1938528" cy="3657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143000" y="6244709"/>
            <a:ext cx="204825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 cluster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= 3,  2 dimension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69848" y="2479198"/>
            <a:ext cx="1892808" cy="2743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3">
            <a:alphaModFix/>
          </a:blip>
          <a:srcRect l="17966" t="16673" r="4597" b="6919"/>
          <a:stretch/>
        </p:blipFill>
        <p:spPr>
          <a:xfrm rot="-5400000">
            <a:off x="5054045" y="-247961"/>
            <a:ext cx="5659288" cy="80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>
            <a:spLocks noGrp="1"/>
          </p:cNvSpPr>
          <p:nvPr>
            <p:ph type="body" idx="1"/>
          </p:nvPr>
        </p:nvSpPr>
        <p:spPr>
          <a:xfrm>
            <a:off x="128016" y="1253331"/>
            <a:ext cx="3657600" cy="517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Transformer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/>
          </a:p>
          <a:p>
            <a:pPr marL="228600" lvl="0" indent="-228600">
              <a:buSzPts val="1600"/>
              <a:buFont typeface="Arial"/>
              <a:buChar char="-"/>
            </a:pPr>
            <a:r>
              <a:rPr lang="en-US" sz="1600" b="1" dirty="0"/>
              <a:t>The gating network selects the top-k experts (k = 2)</a:t>
            </a:r>
          </a:p>
          <a:p>
            <a:pPr marL="228600" lvl="0" indent="-228600">
              <a:buSzPts val="1600"/>
              <a:buFont typeface="Arial"/>
              <a:buChar char="-"/>
            </a:pPr>
            <a:r>
              <a:rPr lang="en-US" sz="1600" b="1" dirty="0"/>
              <a:t>Expert weights are computed based on the Euclidean distance between patch and centroid</a:t>
            </a:r>
          </a:p>
          <a:p>
            <a:pPr marL="228600" lvl="0" indent="-228600">
              <a:buSzPts val="1600"/>
              <a:buFont typeface="Arial"/>
              <a:buChar char="-"/>
            </a:pPr>
            <a:r>
              <a:rPr lang="en-US" sz="1600" b="1" dirty="0"/>
              <a:t>(patch – centroid Euclidean distance based)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 dirty="0"/>
          </a:p>
          <a:p>
            <a:pPr marL="228600" lvl="0" indent="-228600">
              <a:buSzPts val="1600"/>
              <a:buFont typeface="Arial"/>
              <a:buChar char="-"/>
            </a:pPr>
            <a:r>
              <a:rPr lang="en-US" sz="1600" b="1" dirty="0"/>
              <a:t>The output of the </a:t>
            </a:r>
            <a:r>
              <a:rPr lang="en-US" sz="1600" b="1" dirty="0" err="1"/>
              <a:t>MoE</a:t>
            </a:r>
            <a:r>
              <a:rPr lang="en-US" sz="1600" b="1" dirty="0"/>
              <a:t> layer is:</a:t>
            </a:r>
          </a:p>
          <a:p>
            <a:pPr marL="0" lvl="0" indent="0">
              <a:buSzPts val="1600"/>
              <a:buNone/>
            </a:pPr>
            <a:r>
              <a:rPr lang="en-US" sz="1800" u="sng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Σ</a:t>
            </a:r>
            <a:r>
              <a:rPr lang="en-US" sz="1800" u="sng" dirty="0">
                <a:solidFill>
                  <a:schemeClr val="hlink"/>
                </a:solidFill>
                <a:hlinkClick r:id="rId4"/>
              </a:rPr>
              <a:t>G.E</a:t>
            </a:r>
            <a:endParaRPr sz="1600" b="1" dirty="0"/>
          </a:p>
        </p:txBody>
      </p:sp>
      <p:sp>
        <p:nvSpPr>
          <p:cNvPr id="186" name="Google Shape;186;p10"/>
          <p:cNvSpPr/>
          <p:nvPr/>
        </p:nvSpPr>
        <p:spPr>
          <a:xfrm>
            <a:off x="6798564" y="974216"/>
            <a:ext cx="3337560" cy="21987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3392424" y="2177520"/>
            <a:ext cx="3867912" cy="529104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8" name="Google Shape;188;p10"/>
          <p:cNvSpPr/>
          <p:nvPr/>
        </p:nvSpPr>
        <p:spPr>
          <a:xfrm>
            <a:off x="7287768" y="2505456"/>
            <a:ext cx="832104" cy="3657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 rot="10800000" flipH="1">
            <a:off x="2584704" y="1778962"/>
            <a:ext cx="4675632" cy="2071581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0" name="Google Shape;190;p10"/>
          <p:cNvSpPr/>
          <p:nvPr/>
        </p:nvSpPr>
        <p:spPr>
          <a:xfrm>
            <a:off x="7260336" y="1415090"/>
            <a:ext cx="2624328" cy="76242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>
            <a:spLocks noGrp="1"/>
          </p:cNvSpPr>
          <p:nvPr>
            <p:ph type="body" idx="1"/>
          </p:nvPr>
        </p:nvSpPr>
        <p:spPr>
          <a:xfrm>
            <a:off x="493776" y="1261872"/>
            <a:ext cx="11329416" cy="4974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 b="1" dirty="0"/>
              <a:t>Loss</a:t>
            </a:r>
            <a:endParaRPr dirty="0"/>
          </a:p>
          <a:p>
            <a:pPr marL="0" lvl="0" indent="0">
              <a:buNone/>
            </a:pPr>
            <a:r>
              <a:rPr lang="en-US" sz="1800" dirty="0"/>
              <a:t>A probability distribution over each timestamp in the prediction patch: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ϕ = {w1, ϕ1, . . . , w4, ϕ4}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w1 = weight of ϕ1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/>
              <a:t>Φ1 = mean &amp; variance of a distribution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>
              <a:buNone/>
            </a:pPr>
            <a:r>
              <a:rPr lang="en-US" sz="1800" dirty="0"/>
              <a:t>The model is trained to </a:t>
            </a:r>
            <a:r>
              <a:rPr lang="en-US" sz="1800" b="1" dirty="0"/>
              <a:t>maximize the probability of the ground truth within the predicted distribution</a:t>
            </a:r>
            <a:endParaRPr sz="1800" b="1" dirty="0"/>
          </a:p>
          <a:p>
            <a:pPr marL="0" lvl="0" indent="0">
              <a:buNone/>
            </a:pPr>
            <a:r>
              <a:rPr lang="en-US" sz="1800" dirty="0"/>
              <a:t>			+  Includes a </a:t>
            </a:r>
            <a:r>
              <a:rPr lang="en-US" sz="1800" b="1" dirty="0"/>
              <a:t>load-balancing loss </a:t>
            </a:r>
            <a:r>
              <a:rPr lang="en-US" sz="1800" dirty="0"/>
              <a:t>so that tokens are evenly assigned across experts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</p:txBody>
      </p:sp>
      <p:pic>
        <p:nvPicPr>
          <p:cNvPr id="197" name="Google Shape;19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072" y="4375049"/>
            <a:ext cx="2514951" cy="514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" y="5152269"/>
            <a:ext cx="9307224" cy="1371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6080" y="2285835"/>
            <a:ext cx="2771995" cy="10499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11"/>
          <p:cNvCxnSpPr/>
          <p:nvPr/>
        </p:nvCxnSpPr>
        <p:spPr>
          <a:xfrm>
            <a:off x="3091023" y="2152650"/>
            <a:ext cx="5252877" cy="285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1" name="Google Shape;201;p11"/>
          <p:cNvSpPr txBox="1"/>
          <p:nvPr/>
        </p:nvSpPr>
        <p:spPr>
          <a:xfrm>
            <a:off x="310824" y="259779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85436" y="232641"/>
            <a:ext cx="2644454" cy="192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03108" y="3074873"/>
            <a:ext cx="9202434" cy="30007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&amp; Result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170400" y="1457325"/>
            <a:ext cx="994870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In-distribution forecasting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(Monash Benchmark)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SOTA performance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Compared to other foundation models such as Chronos, it uses 65× fewer active parameters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&amp; Result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435649" y="968025"/>
            <a:ext cx="113509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shot forecasting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Probability &amp; Point forecasting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(CRPS)Continuous Ranked Probability Score, (MASE)Mean Absolute Scaled Error </a:t>
            </a:r>
            <a:endParaRPr dirty="0"/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Moirai-</a:t>
            </a:r>
            <a:r>
              <a:rPr lang="en-US" sz="1800" dirty="0" err="1">
                <a:solidFill>
                  <a:schemeClr val="dk1"/>
                </a:solidFill>
              </a:rPr>
              <a:t>MoE</a:t>
            </a:r>
            <a:r>
              <a:rPr lang="en-US" sz="1800" dirty="0">
                <a:solidFill>
                  <a:schemeClr val="dk1"/>
                </a:solidFill>
              </a:rPr>
              <a:t>-B shows higher performance than </a:t>
            </a:r>
            <a:r>
              <a:rPr lang="en-US" sz="1800" dirty="0" err="1">
                <a:solidFill>
                  <a:schemeClr val="dk1"/>
                </a:solidFill>
              </a:rPr>
              <a:t>TimesFM</a:t>
            </a:r>
            <a:r>
              <a:rPr lang="en-US" sz="1800" dirty="0">
                <a:solidFill>
                  <a:schemeClr val="dk1"/>
                </a:solidFill>
              </a:rPr>
              <a:t> &amp; Chronos, despite being pretrained on less data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966" y="1861125"/>
            <a:ext cx="8411884" cy="498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/>
          <p:nvPr/>
        </p:nvSpPr>
        <p:spPr>
          <a:xfrm>
            <a:off x="10511194" y="4233672"/>
            <a:ext cx="150876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Second best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Ablation Studies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1155598" y="993195"/>
            <a:ext cx="94678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Structure: </a:t>
            </a:r>
            <a:endParaRPr dirty="0"/>
          </a:p>
          <a:p>
            <a:pPr lvl="0"/>
            <a:r>
              <a:rPr lang="en-US" sz="1800" b="1" dirty="0">
                <a:solidFill>
                  <a:schemeClr val="dk1"/>
                </a:solidFill>
              </a:rPr>
              <a:t>Replacing the original Moirai masked-encoder architecture with Moirai-</a:t>
            </a:r>
            <a:r>
              <a:rPr lang="en-US" sz="1800" b="1" dirty="0" err="1">
                <a:solidFill>
                  <a:schemeClr val="dk1"/>
                </a:solidFill>
              </a:rPr>
              <a:t>MoE</a:t>
            </a:r>
            <a:r>
              <a:rPr lang="en-US" sz="1800" b="1" dirty="0">
                <a:solidFill>
                  <a:schemeClr val="dk1"/>
                </a:solidFill>
              </a:rPr>
              <a:t>  </a:t>
            </a:r>
          </a:p>
          <a:p>
            <a:pPr lvl="0"/>
            <a:r>
              <a:rPr lang="en-US" sz="1800" b="1" dirty="0">
                <a:solidFill>
                  <a:schemeClr val="dk1"/>
                </a:solidFill>
              </a:rPr>
              <a:t>  consistently improved performance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8552" y="2057768"/>
            <a:ext cx="8159952" cy="1907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8552" y="4106830"/>
            <a:ext cx="3229426" cy="168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3341" y="4106830"/>
            <a:ext cx="3315163" cy="176237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4994579" y="6211669"/>
            <a:ext cx="699094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Expert number: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the Expert number, better the performance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Analyses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834698" y="3135769"/>
            <a:ext cx="526130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NN5 Daily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Traffic Hourly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Two datasets have similar patterns but different frequencies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Frequency-based Moirai embeddings show large separation even for similar-pattern data</a:t>
            </a: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Moirai-</a:t>
            </a:r>
            <a:r>
              <a:rPr lang="en-US" sz="1800" dirty="0" err="1">
                <a:solidFill>
                  <a:schemeClr val="dk1"/>
                </a:solidFill>
              </a:rPr>
              <a:t>MoE</a:t>
            </a:r>
            <a:r>
              <a:rPr lang="en-US" sz="1800" dirty="0">
                <a:solidFill>
                  <a:schemeClr val="dk1"/>
                </a:solidFill>
              </a:rPr>
              <a:t> embeddings blend these similar-pattern datasets more appropriately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 b="47230"/>
          <a:stretch/>
        </p:blipFill>
        <p:spPr>
          <a:xfrm>
            <a:off x="1063694" y="1028211"/>
            <a:ext cx="10064611" cy="193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/>
        </p:nvSpPr>
        <p:spPr>
          <a:xfrm>
            <a:off x="6784258" y="3824748"/>
            <a:ext cx="45730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>
                <a:solidFill>
                  <a:schemeClr val="dk1"/>
                </a:solidFill>
              </a:rPr>
              <a:t>Datasets with similar characteristics are assigned to similar experts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6479458" y="3135769"/>
            <a:ext cx="4648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x: expert index      /    y: token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Analyses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834698" y="3135769"/>
            <a:ext cx="5261301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NN5 Daily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BCB01A"/>
                </a:solidFill>
                <a:latin typeface="Arial"/>
                <a:ea typeface="Arial"/>
                <a:cs typeface="Arial"/>
                <a:sym typeface="Arial"/>
              </a:rPr>
              <a:t>Covid Daily Deaths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Two datasets have different patterns but the same frequency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Because they share frequency, Moirai representations mix together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In Moirai-</a:t>
            </a:r>
            <a:r>
              <a:rPr lang="en-US" sz="1800" dirty="0" err="1">
                <a:solidFill>
                  <a:schemeClr val="dk1"/>
                </a:solidFill>
              </a:rPr>
              <a:t>MoE</a:t>
            </a:r>
            <a:r>
              <a:rPr lang="en-US" sz="1800" dirty="0">
                <a:solidFill>
                  <a:schemeClr val="dk1"/>
                </a:solidFill>
              </a:rPr>
              <a:t> representations, they remain clearly separated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6784258" y="3815604"/>
            <a:ext cx="4573044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>
                <a:solidFill>
                  <a:schemeClr val="dk1"/>
                </a:solidFill>
              </a:rPr>
              <a:t>Since the datasets have different characteristics,</a:t>
            </a: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  the experts assigned in Moirai-</a:t>
            </a:r>
            <a:r>
              <a:rPr lang="en-US" sz="1800" dirty="0" err="1">
                <a:solidFill>
                  <a:schemeClr val="dk1"/>
                </a:solidFill>
              </a:rPr>
              <a:t>MoE</a:t>
            </a:r>
            <a:r>
              <a:rPr lang="en-US" sz="1800" dirty="0">
                <a:solidFill>
                  <a:schemeClr val="dk1"/>
                </a:solidFill>
              </a:rPr>
              <a:t> behave differently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 dirty="0"/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Able to produce frequency-invariant representations that capture time-series patterns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571" y="1340151"/>
            <a:ext cx="9716856" cy="156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7523" y="1030483"/>
            <a:ext cx="9636904" cy="28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6479458" y="3135769"/>
            <a:ext cx="4648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x: expert index      /    y: token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Analyses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310824" y="1021597"/>
            <a:ext cx="4752789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Observations: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Frequency-invariant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Shallow layers tend to reference multiple experts, while deeper layers assign experts that are more dataset-specific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AutoNum type="arabicPeriod"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</a:rPr>
              <a:t>From these observations: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800" dirty="0">
                <a:solidFill>
                  <a:schemeClr val="dk1"/>
                </a:solidFill>
              </a:rPr>
              <a:t>The model gains </a:t>
            </a:r>
            <a:r>
              <a:rPr lang="en-US" sz="1800" b="1" dirty="0">
                <a:solidFill>
                  <a:schemeClr val="dk1"/>
                </a:solidFill>
              </a:rPr>
              <a:t>high-level representation capability for dataset-specific patterns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800" dirty="0">
                <a:solidFill>
                  <a:schemeClr val="dk1"/>
                </a:solidFill>
              </a:rPr>
              <a:t>The model </a:t>
            </a:r>
            <a:r>
              <a:rPr lang="en-US" sz="1800" b="1" dirty="0">
                <a:solidFill>
                  <a:schemeClr val="dk1"/>
                </a:solidFill>
              </a:rPr>
              <a:t>denoises heterogeneity within time-series data </a:t>
            </a:r>
            <a:r>
              <a:rPr lang="en-US" sz="1800" dirty="0">
                <a:solidFill>
                  <a:schemeClr val="dk1"/>
                </a:solidFill>
              </a:rPr>
              <a:t>during training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693" y="554455"/>
            <a:ext cx="6687483" cy="532521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7"/>
          <p:cNvSpPr txBox="1"/>
          <p:nvPr/>
        </p:nvSpPr>
        <p:spPr>
          <a:xfrm>
            <a:off x="5633884" y="6099910"/>
            <a:ext cx="609786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Expert index usage frequency at </a:t>
            </a:r>
            <a:r>
              <a:rPr lang="en-US" sz="1800" dirty="0" err="1"/>
              <a:t>MoE</a:t>
            </a:r>
            <a:r>
              <a:rPr lang="en-US" sz="1800" dirty="0"/>
              <a:t> Layers 2, 4, and 6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/>
        </p:nvSpPr>
        <p:spPr>
          <a:xfrm>
            <a:off x="310824" y="256958"/>
            <a:ext cx="10515600" cy="59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Analyses &amp; Conclusion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Moirai-MoE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310824" y="1021597"/>
            <a:ext cx="4752789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Observation:</a:t>
            </a:r>
            <a:endParaRPr dirty="0"/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 dirty="0">
                <a:solidFill>
                  <a:schemeClr val="dk1"/>
                </a:solidFill>
              </a:rPr>
              <a:t>When applied to Traffic data,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 dirty="0">
                <a:solidFill>
                  <a:schemeClr val="dk1"/>
                </a:solidFill>
              </a:rPr>
              <a:t>  expert allocation corresponds to periodic patterns within the dataset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 </a:t>
            </a:r>
            <a:r>
              <a:rPr lang="en-US" sz="1800" dirty="0">
                <a:solidFill>
                  <a:schemeClr val="dk1"/>
                </a:solidFill>
              </a:rPr>
              <a:t>The model can capture time-series periodicity effectively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5114" y="1021597"/>
            <a:ext cx="6716062" cy="261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5587" y="3641338"/>
            <a:ext cx="6725589" cy="72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 txBox="1"/>
          <p:nvPr/>
        </p:nvSpPr>
        <p:spPr>
          <a:xfrm>
            <a:off x="1071162" y="5507394"/>
            <a:ext cx="1004967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 dirty="0">
                <a:solidFill>
                  <a:schemeClr val="dk1"/>
                </a:solidFill>
              </a:rPr>
              <a:t>The first foundation model in time-series forecasting to apply Mixture of Experts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 dirty="0">
                <a:solidFill>
                  <a:schemeClr val="dk1"/>
                </a:solidFill>
              </a:rPr>
              <a:t>Can represent diverse time-series patterns in a frequency-invariant manner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 dirty="0">
                <a:solidFill>
                  <a:schemeClr val="dk1"/>
                </a:solidFill>
              </a:rPr>
              <a:t>Achieves high performance with fewer active parameters compared to Moirai and other foundation models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964</Words>
  <Application>Microsoft Office PowerPoint</Application>
  <PresentationFormat>Widescreen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Play</vt:lpstr>
      <vt:lpstr>Office Theme</vt:lpstr>
      <vt:lpstr>Moirai-MoE Empowering Time Series Foundation Models with Sparse Mixture of Experts</vt:lpstr>
      <vt:lpstr>Introduction Moirai-MoE</vt:lpstr>
      <vt:lpstr>Related Work Moirai-MoE</vt:lpstr>
      <vt:lpstr>Related Work Moirai-MoE</vt:lpstr>
      <vt:lpstr>Related Work Moirai-MoE</vt:lpstr>
      <vt:lpstr>Methodology Moirai-MoE</vt:lpstr>
      <vt:lpstr>Methodology Moirai-MoE</vt:lpstr>
      <vt:lpstr>Methodology Moirai-MoE</vt:lpstr>
      <vt:lpstr>Methodology Moirai-MoE</vt:lpstr>
      <vt:lpstr>Methodology Moirai-MoE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DongJae Seo</dc:creator>
  <cp:lastModifiedBy>DongJae Seo</cp:lastModifiedBy>
  <cp:revision>2</cp:revision>
  <dcterms:created xsi:type="dcterms:W3CDTF">2025-08-05T16:45:50Z</dcterms:created>
  <dcterms:modified xsi:type="dcterms:W3CDTF">2025-11-14T07:57:08Z</dcterms:modified>
</cp:coreProperties>
</file>